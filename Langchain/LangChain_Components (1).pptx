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4336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0C2C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5B8DE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2377440" cy="402336"/>
          </a:xfrm>
          <a:prstGeom prst="roundRect">
            <a:avLst>
              <a:gd name="adj" fmla="val 22727"/>
            </a:avLst>
          </a:prstGeom>
          <a:solidFill>
            <a:srgbClr val="00C2C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REFERENCE GUIDE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Guide from Document Loaders to RAG Pipelines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9496" y="393192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112244"/>
          </a:solidFill>
          <a:ln/>
        </p:spPr>
      </p:sp>
      <p:sp>
        <p:nvSpPr>
          <p:cNvPr id="10" name="Text 8"/>
          <p:cNvSpPr/>
          <p:nvPr/>
        </p:nvSpPr>
        <p:spPr>
          <a:xfrm>
            <a:off x="539496" y="3931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67128" y="393192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112244"/>
          </a:solidFill>
          <a:ln/>
        </p:spPr>
      </p:sp>
      <p:sp>
        <p:nvSpPr>
          <p:cNvPr id="12" name="Text 10"/>
          <p:cNvSpPr/>
          <p:nvPr/>
        </p:nvSpPr>
        <p:spPr>
          <a:xfrm>
            <a:off x="2167128" y="3931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94760" y="393192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112244"/>
          </a:solidFill>
          <a:ln/>
        </p:spPr>
      </p:sp>
      <p:sp>
        <p:nvSpPr>
          <p:cNvPr id="14" name="Text 12"/>
          <p:cNvSpPr/>
          <p:nvPr/>
        </p:nvSpPr>
        <p:spPr>
          <a:xfrm>
            <a:off x="3794760" y="3931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22392" y="393192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112244"/>
          </a:solidFill>
          <a:ln/>
        </p:spPr>
      </p:sp>
      <p:sp>
        <p:nvSpPr>
          <p:cNvPr id="16" name="Text 14"/>
          <p:cNvSpPr/>
          <p:nvPr/>
        </p:nvSpPr>
        <p:spPr>
          <a:xfrm>
            <a:off x="5422392" y="3931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Loaders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50024" y="393192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112244"/>
          </a:solidFill>
          <a:ln/>
        </p:spPr>
      </p:sp>
      <p:sp>
        <p:nvSpPr>
          <p:cNvPr id="18" name="Text 16"/>
          <p:cNvSpPr/>
          <p:nvPr/>
        </p:nvSpPr>
        <p:spPr>
          <a:xfrm>
            <a:off x="7050024" y="3931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9496" y="434340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112244"/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" y="43434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67128" y="434340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112244"/>
          </a:solidFill>
          <a:ln/>
        </p:spPr>
      </p:sp>
      <p:sp>
        <p:nvSpPr>
          <p:cNvPr id="22" name="Text 20"/>
          <p:cNvSpPr/>
          <p:nvPr/>
        </p:nvSpPr>
        <p:spPr>
          <a:xfrm>
            <a:off x="2167128" y="43434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94760" y="434340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112244"/>
          </a:solidFill>
          <a:ln/>
        </p:spPr>
      </p:sp>
      <p:sp>
        <p:nvSpPr>
          <p:cNvPr id="24" name="Text 22"/>
          <p:cNvSpPr/>
          <p:nvPr/>
        </p:nvSpPr>
        <p:spPr>
          <a:xfrm>
            <a:off x="3794760" y="43434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22392" y="434340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112244"/>
          </a:solidFill>
          <a:ln/>
        </p:spPr>
      </p:sp>
      <p:sp>
        <p:nvSpPr>
          <p:cNvPr id="26" name="Text 24"/>
          <p:cNvSpPr/>
          <p:nvPr/>
        </p:nvSpPr>
        <p:spPr>
          <a:xfrm>
            <a:off x="5422392" y="43434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50024" y="434340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112244"/>
          </a:solidFill>
          <a:ln/>
        </p:spPr>
      </p:sp>
      <p:sp>
        <p:nvSpPr>
          <p:cNvPr id="28" name="Text 26"/>
          <p:cNvSpPr/>
          <p:nvPr/>
        </p:nvSpPr>
        <p:spPr>
          <a:xfrm>
            <a:off x="7050024" y="43434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interfaces that accept a list of messages and return an AI message response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36576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188720"/>
            <a:ext cx="274320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64008" cy="150876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10866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 (ChatOpenAI)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" y="1422146"/>
            <a:ext cx="267919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gpt-4o, gpt-4-turbo, gpt-3.5-turbo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function calling, streaming, vision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widely used in production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langchain_openai import ChatOpenAI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188720"/>
            <a:ext cx="274320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188720"/>
            <a:ext cx="64008" cy="150876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8305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 (ChatAnthropic)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23260" y="1385316"/>
            <a:ext cx="26060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claude-opus-4, claude-sonnet, claude-haiku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long-context and reasoning tasks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safety features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langchain_anthropic import ChatAnthropic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188720"/>
            <a:ext cx="283464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188720"/>
            <a:ext cx="64008" cy="150876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136269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 (ChatGoogleGenerativeAI)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1520317"/>
            <a:ext cx="25877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gemini-1.5-pro, gemini-flash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Multimodal: text, image, audio, video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1M token context window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langchain_google_genai import ...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834640"/>
            <a:ext cx="274320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834640"/>
            <a:ext cx="64008" cy="150876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7706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 (Local / Offline)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" y="3154680"/>
            <a:ext cx="24963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llama3, mistral, phi3, gemma2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offline - no API key needed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privacy-first applications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langchain_ollama import ChatOllama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2834640"/>
            <a:ext cx="274320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834640"/>
            <a:ext cx="64008" cy="15087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3300984" y="278790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 Hub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00984" y="3171952"/>
            <a:ext cx="24963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open-source models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available for research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custom fine-tuned models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langchain_huggingface import ...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2834640"/>
            <a:ext cx="283464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834640"/>
            <a:ext cx="64008" cy="150876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274751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3131566"/>
            <a:ext cx="25877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0.0 (precise) to 1.0 (creative)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max_tokens: limit response length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streaming=True: stream tokens live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model_name: select exact model version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4434840"/>
            <a:ext cx="8686800" cy="56692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46227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ChatOpenAI(model="gpt-4o", temperature=0.0)   |   response = llm.invoke("Explain embeddings")   |   print(response.content)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Runnables  &amp;  LCEL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Expression Language, compose chains using the | pipe operator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188720"/>
            <a:ext cx="2743200" cy="146304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64008" cy="14630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280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RunnablePassthrough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664208"/>
            <a:ext cx="24963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input unchanged to next step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carry context through a chain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parallel branches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= passthrough | parser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188720"/>
            <a:ext cx="2743200" cy="146304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188720"/>
            <a:ext cx="64008" cy="146304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1280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RunnableParallel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664208"/>
            <a:ext cx="24963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multiple runnables in parallel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dict of results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to fetch context + question at once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RunnableParallel({context: r, q: p})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188720"/>
            <a:ext cx="2834640" cy="146304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188720"/>
            <a:ext cx="64008" cy="146304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2801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RunnableLambda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1664208"/>
            <a:ext cx="2587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any Python function as a Runnable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custom transformation steps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async or sync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RunnableLambda(my_function)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788920"/>
            <a:ext cx="2743200" cy="137160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788920"/>
            <a:ext cx="64008" cy="137160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9" name="Text 17"/>
          <p:cNvSpPr/>
          <p:nvPr/>
        </p:nvSpPr>
        <p:spPr>
          <a:xfrm>
            <a:off x="374904" y="27706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Operator  |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904" y="3154680"/>
            <a:ext cx="24963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runnables left-to-right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left becomes input of right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= prompt | llm | parser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LLMChain in modern LangChain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2788920"/>
            <a:ext cx="2743200" cy="137160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788920"/>
            <a:ext cx="64008" cy="137160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23" name="Text 21"/>
          <p:cNvSpPr/>
          <p:nvPr/>
        </p:nvSpPr>
        <p:spPr>
          <a:xfrm>
            <a:off x="3310128" y="28803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Methods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0128" y="3264408"/>
            <a:ext cx="24963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.invoke(input) — single call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.batch([inputs]) — process list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.stream(input) — stream tokens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.ainvoke() — async version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2788920"/>
            <a:ext cx="2834640" cy="137160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788920"/>
            <a:ext cx="64008" cy="13716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28803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RunnableWithMessageHistory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3264408"/>
            <a:ext cx="2587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memory/history to any chain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session-based conversations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storage backend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stateful chatbots easily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4279392"/>
            <a:ext cx="8686800" cy="71323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4297680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 = </a:t>
            </a:r>
            <a:r>
              <a:rPr lang="en-US" sz="1150" dirty="0">
                <a:solidFill>
                  <a:srgbClr val="F7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prompt_template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</a:t>
            </a:r>
            <a:r>
              <a:rPr lang="en-US" sz="11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ChatOpenAI()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</a:t>
            </a:r>
            <a:r>
              <a:rPr lang="en-US" sz="11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StrOutputParser()</a:t>
            </a:r>
            <a:r>
              <a:rPr lang="en-US" sz="1150" dirty="0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chain.invoke({</a:t>
            </a:r>
            <a:r>
              <a:rPr lang="en-US" sz="1150" dirty="0">
                <a:solidFill>
                  <a:srgbClr val="F7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"topic"</a:t>
            </a:r>
            <a:r>
              <a:rPr lang="en-US" sz="1150" dirty="0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"RAG"})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LLM raw text output into structured Python objects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36576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188720"/>
            <a:ext cx="274320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64008" cy="150876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280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StrOutputParser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664208"/>
            <a:ext cx="24963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parser — returns raw string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AI message wrapper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choice for text responses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langchain_core.output_parsers import StrOutputParser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188720"/>
            <a:ext cx="274320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188720"/>
            <a:ext cx="64008" cy="150876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1280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JsonOutputParser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664208"/>
            <a:ext cx="24963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LLM output as JSON dict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Auto-retries on malformed JSON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format_instructions in prompt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Python dict directly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188720"/>
            <a:ext cx="283464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188720"/>
            <a:ext cx="64008" cy="150876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2801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PydanticOutputParser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1664208"/>
            <a:ext cx="25877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output against Pydantic model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structured extraction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format instructions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ValidationError on bad output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834640"/>
            <a:ext cx="274320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834640"/>
            <a:ext cx="64008" cy="150876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9260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CommaSeparatedListOutputParser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" y="3310128"/>
            <a:ext cx="24963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comma-separated text into list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simple enumeration tasks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Python list of strings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use with any LLM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2834640"/>
            <a:ext cx="274320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834640"/>
            <a:ext cx="64008" cy="15087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3310128" y="29260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StructuredOutputParser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0128" y="3310128"/>
            <a:ext cx="24963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into dict from ResponseSchema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fields: name, description, type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Pydantic dependency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schema definition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2834640"/>
            <a:ext cx="283464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834640"/>
            <a:ext cx="64008" cy="150876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29260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XMLOutputParser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3310128"/>
            <a:ext cx="25877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XML-formatted LLM responses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hierarchical structured data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models output XML natively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nested dict from XML tags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4434840"/>
            <a:ext cx="8686800" cy="56692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46227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 = PydanticOutputParser(pydantic_object=MyModel)   |   chain = prompt | llm | parser   |  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7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chain.invoke({"input": "..."})   # returns MyModel instance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 from any source into LangChain Document objects   (page_content + metadata)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36576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188720"/>
            <a:ext cx="274320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64008" cy="150876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112699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Loaders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511046"/>
            <a:ext cx="262432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TextLoader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plain .txt files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CSVLoader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CSV rows as documents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PyPDFLoader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extract text from PDF pages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UnstructuredFileLoader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25+ formats (docx, pptx, xlsx, html...)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188720"/>
            <a:ext cx="274320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188720"/>
            <a:ext cx="64008" cy="150876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1" name="Text 9"/>
          <p:cNvSpPr/>
          <p:nvPr/>
        </p:nvSpPr>
        <p:spPr>
          <a:xfrm>
            <a:off x="3268980" y="116713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URL Loaders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64408" y="1527048"/>
            <a:ext cx="25877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WebBaseLoader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scrape any webpage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RecursiveUrlLoader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crawl site recursively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SitemapLoader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load from sitemap.xml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AsyncHtmlLoader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bulk async page loading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188720"/>
            <a:ext cx="283464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188720"/>
            <a:ext cx="64008" cy="150876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2" y="106400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Loaders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2" y="1448054"/>
            <a:ext cx="2743198" cy="729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SQLDatabaseLoader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query SQL databases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MongodbLoader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load from collections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BigQueryLoader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Google BigQuery results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AstraDBLoader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Apache Cassandra / Astra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834640"/>
            <a:ext cx="274320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834640"/>
            <a:ext cx="64008" cy="150876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19" name="Text 17"/>
          <p:cNvSpPr/>
          <p:nvPr/>
        </p:nvSpPr>
        <p:spPr>
          <a:xfrm>
            <a:off x="301752" y="27548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SaaS Loaders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" y="2998470"/>
            <a:ext cx="2670048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GoogleDriveLoader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load Drive docs/sheets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NotionDBLoader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Notion database pages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SlackDirectoryLoader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Slack message exports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ConfluenceLoader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Confluence pages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2834640"/>
            <a:ext cx="274320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834640"/>
            <a:ext cx="64008" cy="15087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27274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Data Loaders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3111500"/>
            <a:ext cx="26060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GitLoader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load entire Git repository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JSONLoader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extract fields via jq path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ArxivLoader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academic papers from arXiv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WikipediaLoader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Wikipedia articles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2834640"/>
            <a:ext cx="283464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834640"/>
            <a:ext cx="64008" cy="150876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29260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3310128"/>
            <a:ext cx="25877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load() → list of Document objects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lazy_load() → generator for large files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has .page_content (str) and .metadata (dict)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holds source, page num, etc.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4434840"/>
            <a:ext cx="8686800" cy="56692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46227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 = PyPDFLoader("research.pdf")   |   docs = loader.load()   |  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print(docs[0].page_content)   |   print(docs[0].metadata)  # {"source": "research.pdf", "page": 0}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Splitters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large documents into smaller chunks that fit inside an LLM context window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365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188720"/>
            <a:ext cx="4206240" cy="155448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64008" cy="155448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2801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RecursiveCharacterTextSplitter  (Recommended)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664208"/>
            <a:ext cx="3959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by: [paragraph, newline, space, character] in order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largest separator first; falls back to smaller ones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general-purpose splitter: preserves natural structure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chunk_size=1000, chunk_overlap=200 are common defaults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251960" cy="155448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64008" cy="155448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1" name="Text 9"/>
          <p:cNvSpPr/>
          <p:nvPr/>
        </p:nvSpPr>
        <p:spPr>
          <a:xfrm>
            <a:off x="4818888" y="1280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CharacterTextSplitter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18888" y="1664208"/>
            <a:ext cx="40050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on a single custom separator (default: double newline)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fast; good for well-structured text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fall back: may exceed chunk_size if separator missing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separator='\n' for line-by-line splitting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834640"/>
            <a:ext cx="2075688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834640"/>
            <a:ext cx="64008" cy="150876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" y="27752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TokenTextSplitter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" y="3044698"/>
            <a:ext cx="1952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by token count (not characters)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control over LLM token budget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tiktoken or HF tokenizer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token limit is strict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50592" y="2834640"/>
            <a:ext cx="2075688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50592" y="2834640"/>
            <a:ext cx="64008" cy="150876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9" name="Text 17"/>
          <p:cNvSpPr/>
          <p:nvPr/>
        </p:nvSpPr>
        <p:spPr>
          <a:xfrm>
            <a:off x="2564892" y="27752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MarkdownHeaderSplitter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23744" y="3044698"/>
            <a:ext cx="20391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on # / ## / ### headers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hierarchy in metadata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documentation sites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= one document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834640"/>
            <a:ext cx="2075688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834640"/>
            <a:ext cx="64008" cy="15087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4773168" y="277977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HTMLHeaderTextSplitter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73168" y="3163824"/>
            <a:ext cx="18288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on h1/h2/h3 HTML tags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web-scraped content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levels stored in metadata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after WebBaseLoader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39712" y="2834640"/>
            <a:ext cx="2075688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39712" y="2834640"/>
            <a:ext cx="64008" cy="150876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275132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SemanticChunker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9440" y="3135376"/>
            <a:ext cx="1920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by semantic similarity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embeddings to find split points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more meaningful chunks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but higher quality retrieval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4434840"/>
            <a:ext cx="8686800" cy="56692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46227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 = RecursiveCharacterTextSplitter(chunk_size=1000, chunk_overlap=200)   |  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chunks = splitter.split_documents(docs)   |  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print(f"{len(chunks)} chunks created")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into dense numerical vectors that capture semantic meaning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36576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188720"/>
            <a:ext cx="274320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64008" cy="150876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29453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OpenAIEmbeddings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513501"/>
            <a:ext cx="2651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text-embedding-3-small / large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small: 1536 dims | large: 3072 dims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quality, widely used in production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langchain_openai import OpenAIEmbeddings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188720"/>
            <a:ext cx="274320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188720"/>
            <a:ext cx="64008" cy="150876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1280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HuggingFaceEmbeddings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664208"/>
            <a:ext cx="24963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on your machine (free)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all-MiniLM-L6-v2 (384 dims)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quality for most retrieval tasks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langchain_huggingface import HuggingFaceEmbeddings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188720"/>
            <a:ext cx="283464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188720"/>
            <a:ext cx="64008" cy="150876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166029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CohereEmbeddings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44768" y="1550077"/>
            <a:ext cx="29992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embed-english-v3.0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multilingual support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input_type: search_query vs search_document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langchain_cohere import CohereEmbeddings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834640"/>
            <a:ext cx="274320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834640"/>
            <a:ext cx="64008" cy="150876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8392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OllamaEmbeddings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223260"/>
            <a:ext cx="24963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 and private embeddings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nomic-embed-text, mxbai-embed-large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cost; no API key required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langchain_ollama import OllamaEmbeddings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2834640"/>
            <a:ext cx="2743200" cy="1572768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834640"/>
            <a:ext cx="64008" cy="15087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3310128" y="29260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GoogleGenerativeAIEmbeddings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36976" y="3271520"/>
            <a:ext cx="24963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models/embedding-001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dimensions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Google Cloud ecosystem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langchain_google_genai import ...Embeddings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2834640"/>
            <a:ext cx="283464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834640"/>
            <a:ext cx="64008" cy="150876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27" name="Text 25"/>
          <p:cNvSpPr/>
          <p:nvPr/>
        </p:nvSpPr>
        <p:spPr>
          <a:xfrm>
            <a:off x="6227064" y="2825835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27064" y="3209883"/>
            <a:ext cx="25877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embed_documents([texts]) → list of vectors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embed_query(text) → single vector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= cosine similarity of vectors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must be used for docs AND queries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4434840"/>
            <a:ext cx="8686800" cy="56692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46227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= OpenAIEmbeddings(model="text-embedding-3-small")   |   vec = embeddings.embed_query("What is RAG?")   |   print(len(vec))  # 1536 dimensions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that store &amp; search embeddings using Approximate Nearest Neighbor (ANN) algorithms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188720"/>
            <a:ext cx="274320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64008" cy="150876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280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 (Local)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664208"/>
            <a:ext cx="24963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AI Similarity Search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In-memory, fast, great for prototyping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save_local() / load_local() for persistence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langchain_community.vectorstores import FAISS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188720"/>
            <a:ext cx="274320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188720"/>
            <a:ext cx="64008" cy="150876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1280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 (Local + Server)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664208"/>
            <a:ext cx="24963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runs locally or as server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metadata filtering support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by default with SQLite backend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langchain_chroma import Chroma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188720"/>
            <a:ext cx="283464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188720"/>
            <a:ext cx="64008" cy="150876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2801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 (Cloud)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1664208"/>
            <a:ext cx="25877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 vector database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scalable; production-grade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namespaces and metadata filters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langchain_pinecone import PineconeVectorStore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834640"/>
            <a:ext cx="274320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834640"/>
            <a:ext cx="64008" cy="150876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9" name="Text 17"/>
          <p:cNvSpPr/>
          <p:nvPr/>
        </p:nvSpPr>
        <p:spPr>
          <a:xfrm>
            <a:off x="374904" y="2818723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  (Cloud / Local)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904" y="3202771"/>
            <a:ext cx="24963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with cloud option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search: vector + keyword (BM25)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GraphQL-based query interface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langchain_weaviate import WeaviateVectorStore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2834640"/>
            <a:ext cx="274320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834640"/>
            <a:ext cx="64008" cy="15087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3310128" y="29260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 (Cloud / Local)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0128" y="3310128"/>
            <a:ext cx="24963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filtering + payload search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Docker-ready for local deployment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multiple vector types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langchain_qdrant import QdrantVectorStore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2834640"/>
            <a:ext cx="283464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834640"/>
            <a:ext cx="64008" cy="150876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29260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Operations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3310128"/>
            <a:ext cx="25877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from_documents(docs, embedding) — create + index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from_texts(texts, embedding) — from strings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similarity_search(query, k=4) — top-k docs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as_retriever() — convert to Retriever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4434840"/>
            <a:ext cx="8686800" cy="56692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46227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= FAISS.from_documents(chunks, OpenAIEmbeddings())   |   db.save_local("faiss_index")   |  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db.similarity_search("machine learning", k=4)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that return relevant documents given a query — the bridge between data and LLM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36576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188720"/>
            <a:ext cx="274320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64008" cy="150876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11064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VectorStoreRetriever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" y="1490472"/>
            <a:ext cx="26791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retriever from any vector store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search_type: 'similarity' (default) or 'mmr'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search_kwargs={'k': 4, 'score_threshold': 0.7}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db.as_retriever(search_type='similarity')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188720"/>
            <a:ext cx="274320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188720"/>
            <a:ext cx="64008" cy="150876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1280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Retriever  (Maximal Marginal Relevance)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664208"/>
            <a:ext cx="24963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relevance AND diversity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returning near-duplicate chunks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fetch_k: fetch more, then re-rank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search_type='mmr', fetch_k=20, k=4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188720"/>
            <a:ext cx="283464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188720"/>
            <a:ext cx="64008" cy="150876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5" name="Text 13"/>
          <p:cNvSpPr/>
          <p:nvPr/>
        </p:nvSpPr>
        <p:spPr>
          <a:xfrm>
            <a:off x="6227064" y="1136227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ContextualCompression Retriever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27064" y="1520275"/>
            <a:ext cx="25877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retrieved docs with an LLM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only the relevant parts of each doc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noise in LLM context window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LLMChainExtractor as compressor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834640"/>
            <a:ext cx="274320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834640"/>
            <a:ext cx="64008" cy="150876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82346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MultiQueryRetriever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" y="3207512"/>
            <a:ext cx="24963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multiple query variations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for each query, merges results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sensitivity to exact wording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LLM internally to rephrase queries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2834640"/>
            <a:ext cx="274320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834640"/>
            <a:ext cx="64008" cy="15087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2818723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BM25Retriever  (Keyword)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3202771"/>
            <a:ext cx="24963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keyword-based search (TF-IDF)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embeddings needed — fully free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baseline; works offline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langchain_community.retrievers import BM25Retriever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2834640"/>
            <a:ext cx="2834640" cy="150876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834640"/>
            <a:ext cx="64008" cy="150876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29260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EnsembleRetriever  (Hybrid)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3310128"/>
            <a:ext cx="25877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vector + keyword retrieval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[0.6, 0.4] for vector vs BM25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retrieval quality in production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EnsembleRetriever(retrievers=[v, b], weights=[0.6,0.4])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4434840"/>
            <a:ext cx="8686800" cy="56692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46227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7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 = db.as_retriever(search_type="mmr", search_kwargs={"k": 4, "fetch_k": 20})   |  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F7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= retriever.invoke("explain transformers")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</a:t>
            </a:r>
            <a:r>
              <a:rPr lang="en-US" sz="2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: All </a:t>
            </a: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Together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LangChain building blocks connect using LCEL  |  pipe operator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36576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143000"/>
            <a:ext cx="1417320" cy="685800"/>
          </a:xfrm>
          <a:prstGeom prst="rect">
            <a:avLst/>
          </a:prstGeom>
          <a:solidFill>
            <a:srgbClr val="3DDC84">
              <a:alpha val="85000"/>
            </a:srgbClr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14300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74520" y="1143000"/>
            <a:ext cx="1417320" cy="685800"/>
          </a:xfrm>
          <a:prstGeom prst="rect">
            <a:avLst/>
          </a:prstGeom>
          <a:solidFill>
            <a:srgbClr val="FF6B6B">
              <a:alpha val="85000"/>
            </a:srgbClr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74520" y="114300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20440" y="1143000"/>
            <a:ext cx="1417320" cy="685800"/>
          </a:xfrm>
          <a:prstGeom prst="rect">
            <a:avLst/>
          </a:prstGeom>
          <a:solidFill>
            <a:srgbClr val="F7C948">
              <a:alpha val="85000"/>
            </a:srgbClr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14300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66360" y="1143000"/>
            <a:ext cx="1417320" cy="685800"/>
          </a:xfrm>
          <a:prstGeom prst="rect">
            <a:avLst/>
          </a:prstGeom>
          <a:solidFill>
            <a:srgbClr val="5B8DEF">
              <a:alpha val="85000"/>
            </a:srgbClr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66360" y="114300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12280" y="1143000"/>
            <a:ext cx="1417320" cy="685800"/>
          </a:xfrm>
          <a:prstGeom prst="rect">
            <a:avLst/>
          </a:prstGeom>
          <a:solidFill>
            <a:srgbClr val="00C2CB">
              <a:alpha val="85000"/>
            </a:srgbClr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14300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645920" y="1481328"/>
            <a:ext cx="228600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55648" y="1408176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CB"/>
                </a:solidFill>
              </a:rPr>
              <a:t>&gt;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1481328"/>
            <a:ext cx="228600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1408176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CB"/>
                </a:solidFill>
              </a:rPr>
              <a:t>&gt;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37760" y="1481328"/>
            <a:ext cx="228600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1408176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CB"/>
                </a:solidFill>
              </a:rPr>
              <a:t>&gt;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0" y="1481328"/>
            <a:ext cx="228600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93408" y="1408176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CB"/>
                </a:solidFill>
              </a:rPr>
              <a:t>&gt;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" y="969264"/>
            <a:ext cx="8001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PHASE  (run once)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" y="193852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/ INFERENCE PHASE  (run on every user question)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2176272"/>
            <a:ext cx="1417320" cy="685800"/>
          </a:xfrm>
          <a:prstGeom prst="rect">
            <a:avLst/>
          </a:prstGeom>
          <a:solidFill>
            <a:srgbClr val="FF6B6B">
              <a:alpha val="85000"/>
            </a:srgbClr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28600" y="2176272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874520" y="2176272"/>
            <a:ext cx="1417320" cy="685800"/>
          </a:xfrm>
          <a:prstGeom prst="rect">
            <a:avLst/>
          </a:prstGeom>
          <a:solidFill>
            <a:srgbClr val="00C2CB">
              <a:alpha val="85000"/>
            </a:srgbClr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874520" y="2176272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 docs)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520440" y="2176272"/>
            <a:ext cx="1417320" cy="685800"/>
          </a:xfrm>
          <a:prstGeom prst="rect">
            <a:avLst/>
          </a:prstGeom>
          <a:solidFill>
            <a:srgbClr val="F7C948">
              <a:alpha val="85000"/>
            </a:srgbClr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520440" y="2176272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166360" y="2176272"/>
            <a:ext cx="1417320" cy="685800"/>
          </a:xfrm>
          <a:prstGeom prst="rect">
            <a:avLst/>
          </a:prstGeom>
          <a:solidFill>
            <a:srgbClr val="5B8DEF">
              <a:alpha val="85000"/>
            </a:srgbClr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166360" y="2176272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12280" y="2176272"/>
            <a:ext cx="1417320" cy="685800"/>
          </a:xfrm>
          <a:prstGeom prst="rect">
            <a:avLst/>
          </a:prstGeom>
          <a:solidFill>
            <a:srgbClr val="3DDC84">
              <a:alpha val="85000"/>
            </a:srgbClr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12280" y="2176272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645920" y="2514600"/>
            <a:ext cx="228600" cy="0"/>
          </a:xfrm>
          <a:prstGeom prst="line">
            <a:avLst/>
          </a:prstGeom>
          <a:noFill/>
          <a:ln w="19050">
            <a:solidFill>
              <a:srgbClr val="F7C9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55648" y="244144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7C948"/>
                </a:solidFill>
              </a:rPr>
              <a:t>&gt;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91840" y="2514600"/>
            <a:ext cx="228600" cy="0"/>
          </a:xfrm>
          <a:prstGeom prst="line">
            <a:avLst/>
          </a:prstGeom>
          <a:noFill/>
          <a:ln w="19050">
            <a:solidFill>
              <a:srgbClr val="F7C9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01568" y="244144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7C948"/>
                </a:solidFill>
              </a:rPr>
              <a:t>&gt;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37760" y="2514600"/>
            <a:ext cx="228600" cy="0"/>
          </a:xfrm>
          <a:prstGeom prst="line">
            <a:avLst/>
          </a:prstGeom>
          <a:noFill/>
          <a:ln w="19050">
            <a:solidFill>
              <a:srgbClr val="F7C9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47488" y="244144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7C948"/>
                </a:solidFill>
              </a:rPr>
              <a:t>&gt;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583680" y="2514600"/>
            <a:ext cx="228600" cy="0"/>
          </a:xfrm>
          <a:prstGeom prst="line">
            <a:avLst/>
          </a:prstGeom>
          <a:noFill/>
          <a:ln w="19050">
            <a:solidFill>
              <a:srgbClr val="F7C94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93408" y="244144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7C948"/>
                </a:solidFill>
              </a:rPr>
              <a:t>&gt;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" y="3035808"/>
            <a:ext cx="8686800" cy="347472"/>
          </a:xfrm>
          <a:prstGeom prst="rect">
            <a:avLst/>
          </a:prstGeom>
          <a:solidFill>
            <a:srgbClr val="00C2CB">
              <a:alpha val="1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11480" y="3035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  returned as str / Pydantic model / list / JSON  based on Output Parser chosen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28600" y="3493008"/>
            <a:ext cx="8686800" cy="1508760"/>
          </a:xfrm>
          <a:prstGeom prst="rect">
            <a:avLst/>
          </a:prstGeom>
          <a:solidFill>
            <a:srgbClr val="080E1A"/>
          </a:solidFill>
          <a:ln/>
        </p:spPr>
      </p:sp>
      <p:sp>
        <p:nvSpPr>
          <p:cNvPr id="46" name="Text 44"/>
          <p:cNvSpPr/>
          <p:nvPr/>
        </p:nvSpPr>
        <p:spPr>
          <a:xfrm>
            <a:off x="411480" y="3538728"/>
            <a:ext cx="83210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7F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LCEL Chain — Full Example
</a:t>
            </a:r>
            <a:r>
              <a:rPr lang="en-US" sz="10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</a:t>
            </a:r>
            <a:r>
              <a:rPr lang="en-US" sz="1050" dirty="0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vectorstore.as_retriever(search_kwargs={'k': 4})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1050" dirty="0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ChatPromptTemplate.from_template("Context: {context}\nQ: {question}\nA:")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</a:t>
            </a:r>
            <a:r>
              <a:rPr lang="en-US" sz="1050" dirty="0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{"context": retriever | format_docs, "question": RunnablePassthrough()}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prompt | ChatOpenAI() | StrOutputParser()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chain.invoke("What is RAG?")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RAG Architecture with LangChain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20040" y="640080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Generation, ground LLM answers in your own documents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950976"/>
            <a:ext cx="8503920" cy="36576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78992"/>
            <a:ext cx="4206240" cy="265176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1556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: INDEXING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Load documents   DocumentLoader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Split into chunks   TextSplitter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Generate embeddings   EmbeddingModel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Store in vector DB   VectorStore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8600" y="2788920"/>
            <a:ext cx="4206240" cy="74980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807208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vectorstore = FAISS.from_documents(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chunks, OpenAIEmbeddings())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078992"/>
            <a:ext cx="4206240" cy="265176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11556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: RETRIEVAL + GENERATION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463040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Receive user question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Embed the question   same embedding model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Search vector store   top-k similar chunks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Inject context into prompt   PromptTemplate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LLM generates answer   ChatModel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Parse output   OutputParser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788920"/>
            <a:ext cx="4206240" cy="74980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2807208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= rag_chain.invoke(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7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"What does the doc say about X?")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2423160"/>
            <a:ext cx="27432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7992" y="235000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CB"/>
                </a:solidFill>
              </a:rPr>
              <a:t>&gt;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741769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17320" y="3730752"/>
            <a:ext cx="1691640" cy="292608"/>
          </a:xfrm>
          <a:prstGeom prst="roundRect">
            <a:avLst>
              <a:gd name="adj" fmla="val 15625"/>
            </a:avLst>
          </a:prstGeom>
          <a:solidFill>
            <a:srgbClr val="3DDC84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417320" y="373075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Hallucination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3730752"/>
            <a:ext cx="1691640" cy="292608"/>
          </a:xfrm>
          <a:prstGeom prst="roundRect">
            <a:avLst>
              <a:gd name="adj" fmla="val 15625"/>
            </a:avLst>
          </a:prstGeom>
          <a:solidFill>
            <a:srgbClr val="F7C948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154680" y="37439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Your Own 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3735705"/>
            <a:ext cx="1691640" cy="292608"/>
          </a:xfrm>
          <a:prstGeom prst="roundRect">
            <a:avLst>
              <a:gd name="adj" fmla="val 15625"/>
            </a:avLst>
          </a:prstGeom>
          <a:solidFill>
            <a:srgbClr val="5B8DEF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741769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Re-Training Needed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3730752"/>
            <a:ext cx="1691640" cy="292608"/>
          </a:xfrm>
          <a:prstGeom prst="roundRect">
            <a:avLst>
              <a:gd name="adj" fmla="val 15625"/>
            </a:avLst>
          </a:prstGeom>
          <a:solidFill>
            <a:srgbClr val="FF6B6B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372875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Up-to-Date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4069080"/>
            <a:ext cx="8686800" cy="960120"/>
          </a:xfrm>
          <a:prstGeom prst="rect">
            <a:avLst/>
          </a:prstGeom>
          <a:solidFill>
            <a:srgbClr val="060C16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4087368"/>
            <a:ext cx="8531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</a:t>
            </a:r>
            <a:r>
              <a:rPr lang="en-US" sz="980" dirty="0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PyPDFLoader('doc.pdf');  </a:t>
            </a:r>
          </a:p>
          <a:p>
            <a:pPr marL="0" indent="0">
              <a:buNone/>
            </a:pPr>
            <a:r>
              <a:rPr lang="en-US" sz="98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chunks</a:t>
            </a:r>
            <a:r>
              <a:rPr lang="en-US" sz="980" dirty="0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RecursiveCharacterTextSplitter(chunk_size=1000).split_documents(</a:t>
            </a:r>
            <a:r>
              <a:rPr lang="en-US" sz="980" dirty="0" err="1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loader.load</a:t>
            </a:r>
            <a:r>
              <a:rPr lang="en-US" sz="980" dirty="0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7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980" dirty="0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FAISS.from_documents(chunks, OpenAIEmbeddings());  </a:t>
            </a:r>
          </a:p>
          <a:p>
            <a:pPr marL="0" indent="0">
              <a:buNone/>
            </a:pPr>
            <a:r>
              <a:rPr lang="en-US" sz="980" dirty="0">
                <a:solidFill>
                  <a:srgbClr val="F7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</a:t>
            </a:r>
            <a:r>
              <a:rPr lang="en-US" sz="980" dirty="0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db.as_retriever(search_kwargs={'k': 4})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rag_chain</a:t>
            </a:r>
            <a:r>
              <a:rPr lang="en-US" sz="980" dirty="0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(RunnablePassthrough.assign(context=lambda x: retriever.invoke(x['question'])) | prompt | ChatOpenAI() | StrOutputParser())
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</a:t>
            </a:r>
            <a:r>
              <a:rPr lang="en-US" sz="2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 :  </a:t>
            </a: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Cheat Sheet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36576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749808"/>
            <a:ext cx="1463040" cy="310896"/>
          </a:xfrm>
          <a:prstGeom prst="rect">
            <a:avLst/>
          </a:prstGeom>
          <a:solidFill>
            <a:srgbClr val="5B8DE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4980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37360" y="749808"/>
            <a:ext cx="2286000" cy="310896"/>
          </a:xfrm>
          <a:prstGeom prst="rect">
            <a:avLst/>
          </a:prstGeom>
          <a:solidFill>
            <a:srgbClr val="5B8DE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783080" y="749808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749808"/>
            <a:ext cx="2926080" cy="310896"/>
          </a:xfrm>
          <a:prstGeom prst="rect">
            <a:avLst/>
          </a:prstGeom>
          <a:solidFill>
            <a:srgbClr val="5B8DEF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749808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Classes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0" y="749808"/>
            <a:ext cx="1874520" cy="310896"/>
          </a:xfrm>
          <a:prstGeom prst="rect">
            <a:avLst/>
          </a:prstGeom>
          <a:solidFill>
            <a:srgbClr val="5B8DEF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74980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060704"/>
            <a:ext cx="8686800" cy="438912"/>
          </a:xfrm>
          <a:prstGeom prst="rect">
            <a:avLst/>
          </a:prstGeom>
          <a:solidFill>
            <a:srgbClr val="112244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" y="1060704"/>
            <a:ext cx="54864" cy="43891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" y="1060704"/>
            <a:ext cx="1362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37360" y="1060704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langchain_openai / anthropic / google_genai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069080" y="1060704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ChatOpenAI, ChatAnthropic, ChatGoogleGenerativeAI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040880" y="1060704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backbone of the chain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499616"/>
            <a:ext cx="8686800" cy="438912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19" name="Shape 17"/>
          <p:cNvSpPr/>
          <p:nvPr/>
        </p:nvSpPr>
        <p:spPr>
          <a:xfrm>
            <a:off x="228600" y="1499616"/>
            <a:ext cx="54864" cy="43891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" y="1499616"/>
            <a:ext cx="1362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Runnables/LCEL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37360" y="1499616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langchain_core.runnables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069080" y="1499616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RunnablePassthrough, RunnableParallel, RunnableLambda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040880" y="1499616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components with |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1938528"/>
            <a:ext cx="8686800" cy="438912"/>
          </a:xfrm>
          <a:prstGeom prst="rect">
            <a:avLst/>
          </a:prstGeom>
          <a:solidFill>
            <a:srgbClr val="112244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" y="1938528"/>
            <a:ext cx="54864" cy="438912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" y="1938528"/>
            <a:ext cx="1362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Parsers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737360" y="1938528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langchain_core.output_parsers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069080" y="193852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StrOutputParser, JsonOutputParser, PydanticOutputParser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040880" y="1938528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LLM text output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" y="2377440"/>
            <a:ext cx="8686800" cy="438912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1" name="Shape 29"/>
          <p:cNvSpPr/>
          <p:nvPr/>
        </p:nvSpPr>
        <p:spPr>
          <a:xfrm>
            <a:off x="228600" y="2377440"/>
            <a:ext cx="54864" cy="438912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" y="2377440"/>
            <a:ext cx="1362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Loaders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737360" y="237744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langchain_community.document_loaders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069080" y="2377440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PyPDFLoader, WebBaseLoader, CSVLoader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040880" y="237744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 into Documents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" y="2816352"/>
            <a:ext cx="8686800" cy="438912"/>
          </a:xfrm>
          <a:prstGeom prst="rect">
            <a:avLst/>
          </a:prstGeom>
          <a:solidFill>
            <a:srgbClr val="112244"/>
          </a:solidFill>
          <a:ln/>
        </p:spPr>
      </p:sp>
      <p:sp>
        <p:nvSpPr>
          <p:cNvPr id="37" name="Shape 35"/>
          <p:cNvSpPr/>
          <p:nvPr/>
        </p:nvSpPr>
        <p:spPr>
          <a:xfrm>
            <a:off x="228600" y="2816352"/>
            <a:ext cx="54864" cy="43891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8" name="Text 36"/>
          <p:cNvSpPr/>
          <p:nvPr/>
        </p:nvSpPr>
        <p:spPr>
          <a:xfrm>
            <a:off x="329184" y="2816352"/>
            <a:ext cx="1362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737360" y="2816352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langchain_text_splitters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069080" y="2816352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RecursiveCharacterTextSplitter, MarkdownHeaderSplitter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040880" y="2816352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docs for embedding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28600" y="3255264"/>
            <a:ext cx="8686800" cy="438912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43" name="Shape 41"/>
          <p:cNvSpPr/>
          <p:nvPr/>
        </p:nvSpPr>
        <p:spPr>
          <a:xfrm>
            <a:off x="228600" y="3255264"/>
            <a:ext cx="54864" cy="43891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4" name="Text 42"/>
          <p:cNvSpPr/>
          <p:nvPr/>
        </p:nvSpPr>
        <p:spPr>
          <a:xfrm>
            <a:off x="329184" y="3255264"/>
            <a:ext cx="1362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737360" y="3255264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langchain_openai / huggingface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069080" y="3255264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OpenAIEmbeddings, HuggingFaceEmbeddings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040880" y="3255264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to vector conversion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28600" y="3694176"/>
            <a:ext cx="8686800" cy="438912"/>
          </a:xfrm>
          <a:prstGeom prst="rect">
            <a:avLst/>
          </a:prstGeom>
          <a:solidFill>
            <a:srgbClr val="112244"/>
          </a:solidFill>
          <a:ln/>
        </p:spPr>
      </p:sp>
      <p:sp>
        <p:nvSpPr>
          <p:cNvPr id="49" name="Shape 47"/>
          <p:cNvSpPr/>
          <p:nvPr/>
        </p:nvSpPr>
        <p:spPr>
          <a:xfrm>
            <a:off x="228600" y="3694176"/>
            <a:ext cx="54864" cy="43891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50" name="Text 48"/>
          <p:cNvSpPr/>
          <p:nvPr/>
        </p:nvSpPr>
        <p:spPr>
          <a:xfrm>
            <a:off x="329184" y="3694176"/>
            <a:ext cx="1362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737360" y="3694176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langchain_community.vectorstores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069080" y="3694176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FAISS, Chroma, Pinecone, Weaviate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040880" y="3694176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search vectors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28600" y="4133088"/>
            <a:ext cx="8686800" cy="438912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55" name="Shape 53"/>
          <p:cNvSpPr/>
          <p:nvPr/>
        </p:nvSpPr>
        <p:spPr>
          <a:xfrm>
            <a:off x="228600" y="4133088"/>
            <a:ext cx="54864" cy="438912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56" name="Text 54"/>
          <p:cNvSpPr/>
          <p:nvPr/>
        </p:nvSpPr>
        <p:spPr>
          <a:xfrm>
            <a:off x="329184" y="4133088"/>
            <a:ext cx="1362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737360" y="4133088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vectorstore.as_retriever()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069080" y="413308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VectorStoreRetriever, MMR, EnsembleRetriever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040880" y="4133088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relevant docs for query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28600" y="4736592"/>
            <a:ext cx="8686800" cy="292608"/>
          </a:xfrm>
          <a:prstGeom prst="rect">
            <a:avLst/>
          </a:prstGeom>
          <a:solidFill>
            <a:srgbClr val="00C2CB">
              <a:alpha val="1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Order:  Loader  →  Splitter  →  Embeddings  →  VectorStore  →  Retriever  →  PromptTemplate  →  ChatModel  →  OutputParser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2337</Words>
  <Application>Microsoft Office PowerPoint</Application>
  <PresentationFormat>On-screen Show (16:9)</PresentationFormat>
  <Paragraphs>404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LangChain Components</dc:title>
  <dc:subject>PptxGenJS Presentation</dc:subject>
  <dc:creator>LangChain Study Guide</dc:creator>
  <cp:lastModifiedBy>Pradip Wasre</cp:lastModifiedBy>
  <cp:revision>16</cp:revision>
  <dcterms:created xsi:type="dcterms:W3CDTF">2026-05-14T05:17:27Z</dcterms:created>
  <dcterms:modified xsi:type="dcterms:W3CDTF">2026-05-14T14:28:18Z</dcterms:modified>
</cp:coreProperties>
</file>